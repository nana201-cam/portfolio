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63" r:id="rId5"/>
    <p:sldId id="257" r:id="rId6"/>
    <p:sldId id="265" r:id="rId7"/>
    <p:sldId id="266" r:id="rId8"/>
    <p:sldId id="268" r:id="rId9"/>
    <p:sldId id="270" r:id="rId10"/>
    <p:sldId id="269" r:id="rId11"/>
    <p:sldId id="264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316F8-F70E-6A3B-FE03-71E5DD7DB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FC232E-0A66-65E9-5AE3-D1BDFC955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8C2067-A8A0-EE37-CB82-4213E143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767A35-2390-F5A9-C154-46E57B325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313284-C6A3-D3B5-F28C-FF6F88A5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29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289565-1FAE-B49A-A858-BFF53D35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40AA7A-C91F-AE48-EE0D-3A1C6320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7A2129-08AF-21B5-B7A8-23CD0BBE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0D3B14-D00E-A4A4-FF68-BCC31C01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206919-B810-2F63-5F4F-6EE46A35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77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8CD055-AC6D-2B5B-4B80-91752605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E98846-C94D-40D5-BCA2-C026BBF62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1C97EA-B99E-27B8-B7CB-12BC84EF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2CE6BF-8217-26B6-AB73-FF095E4F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ECD337-0E1E-203A-F675-EB2AA1C9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03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83B24-3814-D8ED-A057-6DCFEE22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7C3E89-AB28-52EE-85B2-BBB3535A5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54D51A-6D15-EE1F-2EFF-426731D4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CDB338-CA59-A0F4-7BA0-53257317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7642D0-B838-19B2-2B0C-5029085A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7FA735-10EB-4180-ED87-965778B6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76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1EF29-5099-1984-35D7-E3ACC320F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C02C04-6680-6902-64AD-EEDEB9391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384609-1429-BF15-A0E6-BA927EB39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353D4A-79F3-6A59-C438-F409450C5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C83C134-1759-309E-4B54-286B5E177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A490C60-D89C-9288-405F-138920EA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3AB18F-15A4-EB36-3479-C1496D29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35C9C70-4A69-4797-FD0D-A9C0672D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78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4CC9E-D82F-6ABE-DCF9-0A530438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590480-29E1-6D76-ACDD-DB9EC311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4BB87C-D11D-561F-1A51-5544208D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ADF096-1EA4-F7AC-643B-F838B89C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68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A24B63-4A77-1CB6-4BCD-90941F07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718112F-E114-02FF-D934-2B66568C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592778-14E6-3F1C-7154-41CC117D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98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BBA1EC-C92B-9992-C47E-D16BF377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676159-636B-FB03-3C62-F31C6EDAC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E0F02A-161D-D578-F7C8-E41675BFD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8973B5-A614-237D-8D04-7BA71B8C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440632-70BE-F83E-A13D-CA4117D10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E72000-BEE0-5A25-000B-E11FD56C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57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826AFC-F6BA-6EFA-4D8D-3E9E40A75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CDA94F2-8279-BF6B-F853-1BE2C0F17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3A4CA5-D501-AE3E-0D76-BB6EF5F57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1588C9-6B5F-D502-686D-685F986E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319684-EAEA-BF4C-299D-0F375F76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1DA802-0B16-093E-2D6A-8D72CCF3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66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5F8C64-0179-0376-9103-5C2058E2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CA4CD9-7EC9-1055-56E5-A6F686F97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A8B650-3C37-F97B-B6A9-4BA8C784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2B6BAB-C181-5E8D-C006-4DDE6BD1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9DE945-9355-50F1-7E43-8296D913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992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7D1FC0-58EF-F962-35B8-8C4034D95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94B649-2FB5-665B-FD80-6B0372230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6F4722-26A4-304A-3BF0-F859ADDD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9E9F84-23F2-AA14-E801-C0748C92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4DFE0E-E040-E588-6D4D-939A0691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5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38821D8-3CE4-F0B1-698E-FA6761E7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C7A97B-573D-ED4B-D025-9040F3033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3CC5DF-7CEE-4981-C21A-55DB33A66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3D948-D19C-4089-A44F-79351EA79105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1BC82B-A640-EE75-C6C1-20D25C7A6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F3E932-FE10-5F57-AA85-043A18768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3F438-208A-4130-95B0-D1D753D57A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10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13F58-FD4E-89A6-3FAE-99CB70F1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  Règles de gestion (RG)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6899F541-92E1-C47A-8955-6F65E41182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299927"/>
              </p:ext>
            </p:extLst>
          </p:nvPr>
        </p:nvGraphicFramePr>
        <p:xfrm>
          <a:off x="838200" y="1825625"/>
          <a:ext cx="10515601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203">
                  <a:extLst>
                    <a:ext uri="{9D8B030D-6E8A-4147-A177-3AD203B41FA5}">
                      <a16:colId xmlns:a16="http://schemas.microsoft.com/office/drawing/2014/main" val="4236008018"/>
                    </a:ext>
                  </a:extLst>
                </a:gridCol>
                <a:gridCol w="5261398">
                  <a:extLst>
                    <a:ext uri="{9D8B030D-6E8A-4147-A177-3AD203B41FA5}">
                      <a16:colId xmlns:a16="http://schemas.microsoft.com/office/drawing/2014/main" val="364156424"/>
                    </a:ext>
                  </a:extLst>
                </a:gridCol>
              </a:tblGrid>
              <a:tr h="340436">
                <a:tc>
                  <a:txBody>
                    <a:bodyPr/>
                    <a:lstStyle/>
                    <a:p>
                      <a:r>
                        <a:rPr lang="fr-FR" sz="1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 du matériel 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659259"/>
                  </a:ext>
                </a:extLst>
              </a:tr>
              <a:tr h="595764">
                <a:tc>
                  <a:txBody>
                    <a:bodyPr/>
                    <a:lstStyle/>
                    <a:p>
                      <a:r>
                        <a:rPr lang="fr-FR" dirty="0"/>
                        <a:t>RG1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Chaque matériel est identifié par un numéro de série unique.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270862"/>
                  </a:ext>
                </a:extLst>
              </a:tr>
              <a:tr h="595764">
                <a:tc>
                  <a:txBody>
                    <a:bodyPr/>
                    <a:lstStyle/>
                    <a:p>
                      <a:r>
                        <a:rPr lang="fr-FR" dirty="0"/>
                        <a:t>RG2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Chaque matériel appartient à un seul type de matériel.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754242"/>
                  </a:ext>
                </a:extLst>
              </a:tr>
              <a:tr h="595764">
                <a:tc>
                  <a:txBody>
                    <a:bodyPr/>
                    <a:lstStyle/>
                    <a:p>
                      <a:r>
                        <a:rPr lang="fr-FR" dirty="0"/>
                        <a:t>RG3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type de matériel peut concerner plusieurs matériels.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772994"/>
                  </a:ext>
                </a:extLst>
              </a:tr>
              <a:tr h="595764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Gestion des clients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24639"/>
                  </a:ext>
                </a:extLst>
              </a:tr>
              <a:tr h="595764">
                <a:tc>
                  <a:txBody>
                    <a:bodyPr/>
                    <a:lstStyle/>
                    <a:p>
                      <a:r>
                        <a:rPr lang="fr-FR" dirty="0"/>
                        <a:t>RG4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client est identifié par un numéro client unique.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237248"/>
                  </a:ext>
                </a:extLst>
              </a:tr>
              <a:tr h="595764">
                <a:tc>
                  <a:txBody>
                    <a:bodyPr/>
                    <a:lstStyle/>
                    <a:p>
                      <a:r>
                        <a:rPr lang="fr-FR" dirty="0"/>
                        <a:t>RG5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client peut posséder un ou plusieurs matériels.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90886"/>
                  </a:ext>
                </a:extLst>
              </a:tr>
              <a:tr h="595764">
                <a:tc>
                  <a:txBody>
                    <a:bodyPr/>
                    <a:lstStyle/>
                    <a:p>
                      <a:r>
                        <a:rPr lang="fr-FR" dirty="0"/>
                        <a:t>RG6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matériel appartient à un seul client.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799895"/>
                  </a:ext>
                </a:extLst>
              </a:tr>
              <a:tr h="34043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52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59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4FBBB2-DE90-3F88-97D1-044B9D121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 Règles de gestion (RG)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8F0748A-BD69-FF56-D522-63BAC12AD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69537"/>
              </p:ext>
            </p:extLst>
          </p:nvPr>
        </p:nvGraphicFramePr>
        <p:xfrm>
          <a:off x="838200" y="1825625"/>
          <a:ext cx="1067919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5445">
                  <a:extLst>
                    <a:ext uri="{9D8B030D-6E8A-4147-A177-3AD203B41FA5}">
                      <a16:colId xmlns:a16="http://schemas.microsoft.com/office/drawing/2014/main" val="3622389576"/>
                    </a:ext>
                  </a:extLst>
                </a:gridCol>
                <a:gridCol w="7583745">
                  <a:extLst>
                    <a:ext uri="{9D8B030D-6E8A-4147-A177-3AD203B41FA5}">
                      <a16:colId xmlns:a16="http://schemas.microsoft.com/office/drawing/2014/main" val="3431744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 des contrats de maintenance 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17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client peut souscrire au maximum un contrat de maintenance.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39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contrat de maintenance est souscrit par un seul client.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8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contrat de maintenance est caractérisé par un seul type de contrat.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959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Un type de contrat peut caractériser plusieurs contrats de maintenance.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81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Couverture des matériels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83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contrat de maintenance peut couvrir plusieurs matériels.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736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Un matériel peut être couvert par zéro ou un contrat de maintenance. 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68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1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D4DFCC-740D-BD00-1A0A-D20B65C84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Règles de gestion (RG)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2677B7F-E113-9C6B-FC24-245148113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912127"/>
              </p:ext>
            </p:extLst>
          </p:nvPr>
        </p:nvGraphicFramePr>
        <p:xfrm>
          <a:off x="838200" y="1825625"/>
          <a:ext cx="105156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8691">
                  <a:extLst>
                    <a:ext uri="{9D8B030D-6E8A-4147-A177-3AD203B41FA5}">
                      <a16:colId xmlns:a16="http://schemas.microsoft.com/office/drawing/2014/main" val="4066945891"/>
                    </a:ext>
                  </a:extLst>
                </a:gridCol>
                <a:gridCol w="6686909">
                  <a:extLst>
                    <a:ext uri="{9D8B030D-6E8A-4147-A177-3AD203B41FA5}">
                      <a16:colId xmlns:a16="http://schemas.microsoft.com/office/drawing/2014/main" val="1677283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 des agences 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207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Une agence est identifiée par un numéro d’agence unique.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87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Une agence gère plusieurs clients.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04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Chaque client est géré par une seule agence.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284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Gestion des employés et techniciens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860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 employé est identifié par un matricule unique.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125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 technicien est un employé spécialisé.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999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 technicien travaille dans une seule agence.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166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agence peut employer plusieurs techniciens.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5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52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4F11B5-8238-8170-D2E1-9F5135198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 Règles de gestion (RG)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ED04984-C78D-B9B6-DC32-1977B187E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867453"/>
              </p:ext>
            </p:extLst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559220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99209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Gestion des interventions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61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intervention est identifiée par un numéro d’intervention.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580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intervention est réalisée par un technicien.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16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intervention concerne un matériel.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68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RG23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intervention peut être associée à un contrôle contenant un temps passé et un commentaire.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678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23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1CBB4B-D320-3062-980B-C0B0E989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    dictionnaire des données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B48F449-A37C-5AB9-DA45-8664ABEA5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9318286"/>
              </p:ext>
            </p:extLst>
          </p:nvPr>
        </p:nvGraphicFramePr>
        <p:xfrm>
          <a:off x="838200" y="1825625"/>
          <a:ext cx="10515597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6029255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2637302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80827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Entité : Matériel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23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Donnée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43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Numéro Série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Identifiant unique du matériel </a:t>
                      </a:r>
                      <a:r>
                        <a:rPr lang="fr-FR" dirty="0" err="1"/>
                        <a:t>Matériel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892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Date de vente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Date de vente du matériel 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35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6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Date d’installation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05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Prix de vente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DECIMAL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Prix du matériel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9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Emplacement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Emplacement du matériel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46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88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93669-CBBC-E507-B254-45362A50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dictionnaire des données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74E595D-92D6-1478-BAB9-BD58A0260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289433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951592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518498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57547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Entité : Type Matériel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33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Donnée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5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Référence interne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Identifiant du type matériel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63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Libellé type matériel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 du type de matériel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78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7F5C15-FE0E-A579-760D-B6E009B3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dictionnaire des données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DC14A79-B525-CD33-24AB-7160FEC9F2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552749"/>
              </p:ext>
            </p:extLst>
          </p:nvPr>
        </p:nvGraphicFramePr>
        <p:xfrm>
          <a:off x="838200" y="1825625"/>
          <a:ext cx="10515597" cy="60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279">
                  <a:extLst>
                    <a:ext uri="{9D8B030D-6E8A-4147-A177-3AD203B41FA5}">
                      <a16:colId xmlns:a16="http://schemas.microsoft.com/office/drawing/2014/main" val="2555106783"/>
                    </a:ext>
                  </a:extLst>
                </a:gridCol>
                <a:gridCol w="3942272">
                  <a:extLst>
                    <a:ext uri="{9D8B030D-6E8A-4147-A177-3AD203B41FA5}">
                      <a16:colId xmlns:a16="http://schemas.microsoft.com/office/drawing/2014/main" val="907822434"/>
                    </a:ext>
                  </a:extLst>
                </a:gridCol>
                <a:gridCol w="3728046">
                  <a:extLst>
                    <a:ext uri="{9D8B030D-6E8A-4147-A177-3AD203B41FA5}">
                      <a16:colId xmlns:a16="http://schemas.microsoft.com/office/drawing/2014/main" val="89529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Entité :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0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Donnée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7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Numéro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Identifiant du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537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Raison sociale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 de l’entreprise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821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Siren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VARCHAR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Numéro SIREN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177"/>
                  </a:ext>
                </a:extLst>
              </a:tr>
              <a:tr h="232925">
                <a:tc>
                  <a:txBody>
                    <a:bodyPr/>
                    <a:lstStyle/>
                    <a:p>
                      <a:r>
                        <a:rPr lang="fr-FR" dirty="0"/>
                        <a:t>Code 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VARCHAR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Code activité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569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VARCHAR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Adresse du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22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Téléphone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VARCHAR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Numéro de téléphone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727604"/>
                  </a:ext>
                </a:extLst>
              </a:tr>
              <a:tr h="426636">
                <a:tc>
                  <a:txBody>
                    <a:bodyPr/>
                    <a:lstStyle/>
                    <a:p>
                      <a:r>
                        <a:rPr lang="fr-FR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VARCHAR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11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46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Déplacement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Temps déplacement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1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Distance en kilomètres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990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09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27A9D4-FAA7-C7DE-17DD-9ED5F8C6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dictionnaire des données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1C3B981F-9237-2CF5-7E33-1719D9484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4138885"/>
              </p:ext>
            </p:extLst>
          </p:nvPr>
        </p:nvGraphicFramePr>
        <p:xfrm>
          <a:off x="838200" y="1825625"/>
          <a:ext cx="10515597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0539500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532383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16464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dictionnaire des données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34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Donnée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634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Numéro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519621"/>
                  </a:ext>
                </a:extLst>
              </a:tr>
              <a:tr h="339893">
                <a:tc>
                  <a:txBody>
                    <a:bodyPr/>
                    <a:lstStyle/>
                    <a:p>
                      <a:r>
                        <a:rPr lang="fr-FR" dirty="0"/>
                        <a:t>Contrat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Contrat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Date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Date signature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220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Date échéance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Date échéance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876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64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DCDEFD-84F5-10B8-3209-A8BE048A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dictionnaire des données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1C4DEF1-EB14-4039-8DB6-2F931840D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692527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1902986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523116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5182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Entité : Type Contrat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26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Donnée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86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RefTypeContrat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Identifiant du type de contrat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0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Délai d’intervention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Délai d’intervention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413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Taux applicable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Taux appliqué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802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75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CDEF8-38FC-3ACC-1655-7C271212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dictionnaire des données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1F7BB5AC-156A-3E38-57C5-567DAFA665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977999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739432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0528341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49159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Entité : Agence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99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Donnée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666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6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60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539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29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5916C-4C57-4CE7-E952-5E72A91B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 Conceptuel de Données (MCD 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ADCE6DF-22FC-9C08-BEA4-4F19EA947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2933" y="1825625"/>
            <a:ext cx="3806134" cy="4351338"/>
          </a:xfrm>
        </p:spPr>
      </p:pic>
    </p:spTree>
    <p:extLst>
      <p:ext uri="{BB962C8B-B14F-4D97-AF65-F5344CB8AC3E}">
        <p14:creationId xmlns:p14="http://schemas.microsoft.com/office/powerpoint/2010/main" val="1863235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96A5C-1144-AC11-5C47-9F62681B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Conception de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D5EBFD-804C-DCDD-704B-7C7359E91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8609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500</Words>
  <Application>Microsoft Office PowerPoint</Application>
  <PresentationFormat>Grand écran</PresentationFormat>
  <Paragraphs>158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                    Règles de gestion (RG)</vt:lpstr>
      <vt:lpstr>                   Règles de gestion (RG)</vt:lpstr>
      <vt:lpstr>                  Règles de gestion (RG)</vt:lpstr>
      <vt:lpstr>                   Règles de gestion (RG)</vt:lpstr>
      <vt:lpstr>                      dictionnaire des données </vt:lpstr>
      <vt:lpstr>                  dictionnaire des données </vt:lpstr>
      <vt:lpstr>                  dictionnaire des données </vt:lpstr>
      <vt:lpstr>              dictionnaire des données</vt:lpstr>
      <vt:lpstr>                 dictionnaire des données</vt:lpstr>
      <vt:lpstr>                dictionnaire des données</vt:lpstr>
      <vt:lpstr>Modèle Conceptuel de Données (MCD )</vt:lpstr>
      <vt:lpstr>          Conception de la base de données</vt:lpstr>
    </vt:vector>
  </TitlesOfParts>
  <Company>GastonBerger.fr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CAMARA</dc:creator>
  <cp:lastModifiedBy>Nana CAMARA</cp:lastModifiedBy>
  <cp:revision>2</cp:revision>
  <dcterms:created xsi:type="dcterms:W3CDTF">2026-03-06T08:21:37Z</dcterms:created>
  <dcterms:modified xsi:type="dcterms:W3CDTF">2026-03-13T11:04:52Z</dcterms:modified>
</cp:coreProperties>
</file>